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4"/>
    <p:sldMasterId id="2147483669" r:id="rId5"/>
  </p:sldMasterIdLst>
  <p:notesMasterIdLst>
    <p:notesMasterId r:id="rId25"/>
  </p:notesMasterIdLst>
  <p:sldIdLst>
    <p:sldId id="397" r:id="rId6"/>
    <p:sldId id="419" r:id="rId7"/>
    <p:sldId id="435" r:id="rId8"/>
    <p:sldId id="437" r:id="rId9"/>
    <p:sldId id="438" r:id="rId10"/>
    <p:sldId id="441" r:id="rId11"/>
    <p:sldId id="446" r:id="rId12"/>
    <p:sldId id="447" r:id="rId13"/>
    <p:sldId id="442" r:id="rId14"/>
    <p:sldId id="443" r:id="rId15"/>
    <p:sldId id="444" r:id="rId16"/>
    <p:sldId id="445" r:id="rId17"/>
    <p:sldId id="448" r:id="rId18"/>
    <p:sldId id="449" r:id="rId19"/>
    <p:sldId id="450" r:id="rId20"/>
    <p:sldId id="451" r:id="rId21"/>
    <p:sldId id="452" r:id="rId22"/>
    <p:sldId id="453" r:id="rId23"/>
    <p:sldId id="434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595959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CCA"/>
          </a:solidFill>
        </a:fill>
      </a:tcStyle>
    </a:wholeTbl>
    <a:band2H>
      <a:tcTxStyle/>
      <a:tcStyle>
        <a:tcBdr/>
        <a:fill>
          <a:solidFill>
            <a:srgbClr val="FFF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0DECB"/>
          </a:solidFill>
        </a:fill>
      </a:tcStyle>
    </a:wholeTbl>
    <a:band2H>
      <a:tcTxStyle/>
      <a:tcStyle>
        <a:tcBdr/>
        <a:fill>
          <a:solidFill>
            <a:srgbClr val="F7EF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ECFCA"/>
          </a:solidFill>
        </a:fill>
      </a:tcStyle>
    </a:wholeTbl>
    <a:band2H>
      <a:tcTxStyle/>
      <a:tcStyle>
        <a:tcBdr/>
        <a:fill>
          <a:solidFill>
            <a:srgbClr val="F6E9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95959"/>
        </a:fontRef>
        <a:srgbClr val="59595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595959"/>
        </a:fontRef>
        <a:srgbClr val="59595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95959"/>
              </a:solidFill>
              <a:prstDash val="solid"/>
              <a:round/>
            </a:ln>
          </a:top>
          <a:bottom>
            <a:ln w="25400" cap="flat">
              <a:solidFill>
                <a:srgbClr val="59595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95959"/>
              </a:solidFill>
              <a:prstDash val="solid"/>
              <a:round/>
            </a:ln>
          </a:top>
          <a:bottom>
            <a:ln w="25400" cap="flat">
              <a:solidFill>
                <a:srgbClr val="59595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9595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95959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9595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595959"/>
              </a:solidFill>
              <a:prstDash val="solid"/>
              <a:round/>
            </a:ln>
          </a:left>
          <a:right>
            <a:ln w="12700" cap="flat">
              <a:solidFill>
                <a:srgbClr val="595959"/>
              </a:solidFill>
              <a:prstDash val="solid"/>
              <a:round/>
            </a:ln>
          </a:right>
          <a:top>
            <a:ln w="12700" cap="flat">
              <a:solidFill>
                <a:srgbClr val="595959"/>
              </a:solidFill>
              <a:prstDash val="solid"/>
              <a:round/>
            </a:ln>
          </a:top>
          <a:bottom>
            <a:ln w="12700" cap="flat">
              <a:solidFill>
                <a:srgbClr val="595959"/>
              </a:solidFill>
              <a:prstDash val="solid"/>
              <a:round/>
            </a:ln>
          </a:bottom>
          <a:insideH>
            <a:ln w="12700" cap="flat">
              <a:solidFill>
                <a:srgbClr val="595959"/>
              </a:solidFill>
              <a:prstDash val="solid"/>
              <a:round/>
            </a:ln>
          </a:insideH>
          <a:insideV>
            <a:ln w="12700" cap="flat">
              <a:solidFill>
                <a:srgbClr val="595959"/>
              </a:solidFill>
              <a:prstDash val="solid"/>
              <a:round/>
            </a:ln>
          </a:insideV>
        </a:tcBdr>
        <a:fill>
          <a:solidFill>
            <a:srgbClr val="595959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595959"/>
              </a:solidFill>
              <a:prstDash val="solid"/>
              <a:round/>
            </a:ln>
          </a:left>
          <a:right>
            <a:ln w="12700" cap="flat">
              <a:solidFill>
                <a:srgbClr val="595959"/>
              </a:solidFill>
              <a:prstDash val="solid"/>
              <a:round/>
            </a:ln>
          </a:right>
          <a:top>
            <a:ln w="12700" cap="flat">
              <a:solidFill>
                <a:srgbClr val="595959"/>
              </a:solidFill>
              <a:prstDash val="solid"/>
              <a:round/>
            </a:ln>
          </a:top>
          <a:bottom>
            <a:ln w="12700" cap="flat">
              <a:solidFill>
                <a:srgbClr val="595959"/>
              </a:solidFill>
              <a:prstDash val="solid"/>
              <a:round/>
            </a:ln>
          </a:bottom>
          <a:insideH>
            <a:ln w="12700" cap="flat">
              <a:solidFill>
                <a:srgbClr val="595959"/>
              </a:solidFill>
              <a:prstDash val="solid"/>
              <a:round/>
            </a:ln>
          </a:insideH>
          <a:insideV>
            <a:ln w="12700" cap="flat">
              <a:solidFill>
                <a:srgbClr val="595959"/>
              </a:solidFill>
              <a:prstDash val="solid"/>
              <a:round/>
            </a:ln>
          </a:insideV>
        </a:tcBdr>
        <a:fill>
          <a:solidFill>
            <a:srgbClr val="595959">
              <a:alpha val="20000"/>
            </a:srgbClr>
          </a:solidFill>
        </a:fill>
      </a:tcStyle>
    </a:firstCol>
    <a:lastRow>
      <a:tcTxStyle b="on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595959"/>
              </a:solidFill>
              <a:prstDash val="solid"/>
              <a:round/>
            </a:ln>
          </a:left>
          <a:right>
            <a:ln w="12700" cap="flat">
              <a:solidFill>
                <a:srgbClr val="595959"/>
              </a:solidFill>
              <a:prstDash val="solid"/>
              <a:round/>
            </a:ln>
          </a:right>
          <a:top>
            <a:ln w="50800" cap="flat">
              <a:solidFill>
                <a:srgbClr val="595959"/>
              </a:solidFill>
              <a:prstDash val="solid"/>
              <a:round/>
            </a:ln>
          </a:top>
          <a:bottom>
            <a:ln w="12700" cap="flat">
              <a:solidFill>
                <a:srgbClr val="595959"/>
              </a:solidFill>
              <a:prstDash val="solid"/>
              <a:round/>
            </a:ln>
          </a:bottom>
          <a:insideH>
            <a:ln w="12700" cap="flat">
              <a:solidFill>
                <a:srgbClr val="595959"/>
              </a:solidFill>
              <a:prstDash val="solid"/>
              <a:round/>
            </a:ln>
          </a:insideH>
          <a:insideV>
            <a:ln w="12700" cap="flat">
              <a:solidFill>
                <a:srgbClr val="595959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595959"/>
        </a:fontRef>
        <a:srgbClr val="595959"/>
      </a:tcTxStyle>
      <a:tcStyle>
        <a:tcBdr>
          <a:left>
            <a:ln w="12700" cap="flat">
              <a:solidFill>
                <a:srgbClr val="595959"/>
              </a:solidFill>
              <a:prstDash val="solid"/>
              <a:round/>
            </a:ln>
          </a:left>
          <a:right>
            <a:ln w="12700" cap="flat">
              <a:solidFill>
                <a:srgbClr val="595959"/>
              </a:solidFill>
              <a:prstDash val="solid"/>
              <a:round/>
            </a:ln>
          </a:right>
          <a:top>
            <a:ln w="12700" cap="flat">
              <a:solidFill>
                <a:srgbClr val="595959"/>
              </a:solidFill>
              <a:prstDash val="solid"/>
              <a:round/>
            </a:ln>
          </a:top>
          <a:bottom>
            <a:ln w="25400" cap="flat">
              <a:solidFill>
                <a:srgbClr val="595959"/>
              </a:solidFill>
              <a:prstDash val="solid"/>
              <a:round/>
            </a:ln>
          </a:bottom>
          <a:insideH>
            <a:ln w="12700" cap="flat">
              <a:solidFill>
                <a:srgbClr val="595959"/>
              </a:solidFill>
              <a:prstDash val="solid"/>
              <a:round/>
            </a:ln>
          </a:insideH>
          <a:insideV>
            <a:ln w="12700" cap="flat">
              <a:solidFill>
                <a:srgbClr val="595959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solidFill>
          <a:srgbClr val="595959"/>
        </a:solidFill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57187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1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649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-1428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725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628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59595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5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94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59595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5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526402" y="702240"/>
            <a:ext cx="6172203" cy="48736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s-ES"/>
              <a:t>Haga clic en el icono para agregar una imagen</a:t>
            </a:r>
            <a:endParaRPr/>
          </a:p>
        </p:txBody>
      </p:sp>
      <p:sp>
        <p:nvSpPr>
          <p:cNvPr id="86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8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18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o del título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59595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3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999999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999999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999999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999999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999999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59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41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278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-1428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6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78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149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59595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75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940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59595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85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526402" y="702240"/>
            <a:ext cx="6172203" cy="48736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894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ítulo de la Exposición"/>
          <p:cNvSpPr txBox="1">
            <a:spLocks noGrp="1"/>
          </p:cNvSpPr>
          <p:nvPr>
            <p:ph type="title" hasCustomPrompt="1"/>
          </p:nvPr>
        </p:nvSpPr>
        <p:spPr>
          <a:xfrm>
            <a:off x="2799008" y="4778061"/>
            <a:ext cx="8994910" cy="914402"/>
          </a:xfrm>
          <a:prstGeom prst="rect">
            <a:avLst/>
          </a:prstGeom>
        </p:spPr>
        <p:txBody>
          <a:bodyPr/>
          <a:lstStyle>
            <a:lvl1pPr algn="ctr">
              <a:defRPr sz="4500" b="1">
                <a:solidFill>
                  <a:srgbClr val="FFFFFF"/>
                </a:solidFill>
              </a:defRPr>
            </a:lvl1pPr>
          </a:lstStyle>
          <a:p>
            <a:r>
              <a:t>Título de la Exposición</a:t>
            </a:r>
          </a:p>
        </p:txBody>
      </p:sp>
      <p:sp>
        <p:nvSpPr>
          <p:cNvPr id="95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799007" y="4098709"/>
            <a:ext cx="8994911" cy="52158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 b="1">
                <a:solidFill>
                  <a:srgbClr val="F0B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85800" indent="-228600">
              <a:buFontTx/>
              <a:defRPr sz="2400" b="1">
                <a:solidFill>
                  <a:srgbClr val="F0B52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88719" indent="-274319">
              <a:buFontTx/>
              <a:defRPr sz="2400" b="1">
                <a:solidFill>
                  <a:srgbClr val="F0B52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76400" indent="-304800">
              <a:buFontTx/>
              <a:defRPr sz="2400" b="1">
                <a:solidFill>
                  <a:srgbClr val="F0B52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33600" indent="-304800">
              <a:buFontTx/>
              <a:defRPr sz="2400" b="1">
                <a:solidFill>
                  <a:srgbClr val="F0B52A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Unidad/Zona/grupo o equipo funcional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01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4" name="Imagen" descr="Image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8680" y="5918855"/>
            <a:ext cx="2537504" cy="78632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999999"/>
                </a:solidFill>
              </a:defRPr>
            </a:lvl1pPr>
          </a:lstStyle>
          <a:p>
            <a:fld id="{86CB4B4D-7CA3-9044-876B-883B54F867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874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</p:sldLayoutIdLst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4" name="Imagen" descr="Image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8680" y="5918855"/>
            <a:ext cx="2537504" cy="78632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99999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17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</p:sldLayoutIdLst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0" i="0" u="none" strike="noStrike" cap="none" spc="0" baseline="0">
          <a:solidFill>
            <a:srgbClr val="A7A7A7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595959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ítulo 1"/>
          <p:cNvSpPr txBox="1">
            <a:spLocks noGrp="1"/>
          </p:cNvSpPr>
          <p:nvPr>
            <p:ph type="title"/>
          </p:nvPr>
        </p:nvSpPr>
        <p:spPr>
          <a:xfrm>
            <a:off x="143839" y="3714108"/>
            <a:ext cx="6810841" cy="101643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7100"/>
            </a:lvl1pPr>
          </a:lstStyle>
          <a:p>
            <a:r>
              <a:rPr lang="es-ES" sz="4000" dirty="0"/>
              <a:t>Juan David Soto D’alleman</a:t>
            </a:r>
            <a:endParaRPr sz="4000" dirty="0"/>
          </a:p>
        </p:txBody>
      </p:sp>
      <p:sp>
        <p:nvSpPr>
          <p:cNvPr id="106" name="Marcador de texto 3"/>
          <p:cNvSpPr txBox="1">
            <a:spLocks noGrp="1"/>
          </p:cNvSpPr>
          <p:nvPr>
            <p:ph type="body" sz="quarter" idx="1"/>
          </p:nvPr>
        </p:nvSpPr>
        <p:spPr>
          <a:xfrm>
            <a:off x="143839" y="2626491"/>
            <a:ext cx="9072081" cy="118431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ES" sz="2800" dirty="0"/>
              <a:t>Modelado de precios de combustibles y su efecto en la rentabilidad del transporte de carga en Colombia</a:t>
            </a:r>
            <a:endParaRPr lang="es-ES" sz="3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B0A2158-48D3-48E6-B401-8ECBF00AC0DB}"/>
              </a:ext>
            </a:extLst>
          </p:cNvPr>
          <p:cNvSpPr/>
          <p:nvPr/>
        </p:nvSpPr>
        <p:spPr>
          <a:xfrm>
            <a:off x="6360651" y="6072154"/>
            <a:ext cx="28552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</a:rPr>
              <a:t>Diciembre 2025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15017E6-F73E-79CE-5B37-7293323547CF}"/>
              </a:ext>
            </a:extLst>
          </p:cNvPr>
          <p:cNvSpPr txBox="1">
            <a:spLocks/>
          </p:cNvSpPr>
          <p:nvPr/>
        </p:nvSpPr>
        <p:spPr>
          <a:xfrm>
            <a:off x="143839" y="4893131"/>
            <a:ext cx="7715891" cy="101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8" tIns="45718" rIns="45718" bIns="45718" anchor="ctr">
            <a:noAutofit/>
          </a:bodyPr>
          <a:lstStyle>
            <a:lvl1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100" b="1" i="0" u="none" strike="noStrike" cap="none" spc="0" baseline="0">
                <a:solidFill>
                  <a:srgbClr val="FFFFFF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O" sz="2000" dirty="0"/>
              <a:t>Escuela de Ciencias Básicas, Tecnología e Ingeniería ECBTI</a:t>
            </a:r>
          </a:p>
          <a:p>
            <a:r>
              <a:rPr lang="es-CO" sz="2000" dirty="0"/>
              <a:t>Especialización en Ciencia de Datos y Analítica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B562C-27D8-1EBF-F8EE-E16C1640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1" y="138479"/>
            <a:ext cx="10515600" cy="1325563"/>
          </a:xfrm>
        </p:spPr>
        <p:txBody>
          <a:bodyPr/>
          <a:lstStyle/>
          <a:p>
            <a:br>
              <a:rPr lang="es-CO" sz="2800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419" dirty="0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EB50FF0C-26AF-093F-4741-EC4DD21F95C2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11C8BEB-E9D4-C99F-610C-2C97C7E7BC8F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2800" b="1" dirty="0">
                <a:solidFill>
                  <a:schemeClr val="tx1">
                    <a:lumMod val="50000"/>
                  </a:schemeClr>
                </a:solidFill>
              </a:rPr>
              <a:t>CONTEXTO </a:t>
            </a:r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Y RELEVANCIA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AFF5C8E3-A169-B5D3-377C-075752BAABBD}"/>
              </a:ext>
            </a:extLst>
          </p:cNvPr>
          <p:cNvSpPr/>
          <p:nvPr/>
        </p:nvSpPr>
        <p:spPr>
          <a:xfrm>
            <a:off x="772441" y="1330477"/>
            <a:ext cx="5722649" cy="17629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Aumento sostenido del precio del diésel desde 2016.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El combustible representa ≈ </a:t>
            </a:r>
            <a:r>
              <a:rPr lang="es-CO" altLang="es-CO" sz="1600" b="1" dirty="0">
                <a:solidFill>
                  <a:schemeClr val="tx1"/>
                </a:solidFill>
                <a:latin typeface="Arial" panose="020B0604020202020204" pitchFamily="34" charset="0"/>
              </a:rPr>
              <a:t>40% del costo </a:t>
            </a:r>
            <a:r>
              <a:rPr lang="es-ES" sz="1600" dirty="0"/>
              <a:t>costo operativo total </a:t>
            </a:r>
            <a:r>
              <a:rPr lang="es-CO" altLang="es-CO" sz="1600" b="1" dirty="0">
                <a:solidFill>
                  <a:schemeClr val="tx1"/>
                </a:solidFill>
                <a:latin typeface="Arial" panose="020B0604020202020204" pitchFamily="34" charset="0"/>
              </a:rPr>
              <a:t> del transporte.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Impacto directo en la rentabilidad del sector.</a:t>
            </a:r>
          </a:p>
          <a:p>
            <a:endParaRPr lang="es-ES" sz="1400" dirty="0"/>
          </a:p>
          <a:p>
            <a:endParaRPr lang="es-ES" sz="14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62B218E-A2E2-E925-4295-24CB76BC2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4" y="3326484"/>
            <a:ext cx="5929302" cy="2788549"/>
          </a:xfrm>
          <a:prstGeom prst="rect">
            <a:avLst/>
          </a:prstGeom>
        </p:spPr>
      </p:pic>
      <p:sp>
        <p:nvSpPr>
          <p:cNvPr id="10" name="AutoShape 4" descr="Imagen de ">
            <a:extLst>
              <a:ext uri="{FF2B5EF4-FFF2-40B4-BE49-F238E27FC236}">
                <a16:creationId xmlns:a16="http://schemas.microsoft.com/office/drawing/2014/main" id="{448007E2-D723-77CA-90AD-61733BE37A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730321"/>
            <a:ext cx="2851079" cy="28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3" name="Imagen 12" descr="Una carretera con coches&#10;&#10;El contenido generado por IA puede ser incorrecto.">
            <a:extLst>
              <a:ext uri="{FF2B5EF4-FFF2-40B4-BE49-F238E27FC236}">
                <a16:creationId xmlns:a16="http://schemas.microsoft.com/office/drawing/2014/main" id="{27EEFAEC-723A-463A-17D8-816D3B7FF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375" y="1885255"/>
            <a:ext cx="4750768" cy="351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8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6F62-8A65-BE6E-B969-623AD3B5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3986A-F449-B74F-C077-8BCC5827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1" y="138479"/>
            <a:ext cx="10515600" cy="1325563"/>
          </a:xfrm>
        </p:spPr>
        <p:txBody>
          <a:bodyPr/>
          <a:lstStyle/>
          <a:p>
            <a:br>
              <a:rPr lang="es-CO" sz="2800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419" dirty="0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25A0F5A4-DDB1-B006-56B2-B4BD7A362D28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EC9C89C-0BCE-DA4D-6221-1978B6AAD9A8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2800" b="1" dirty="0">
                <a:solidFill>
                  <a:schemeClr val="tx1">
                    <a:lumMod val="50000"/>
                  </a:schemeClr>
                </a:solidFill>
              </a:rPr>
              <a:t>PLANTEAMIENTO DEL PROBLEMA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F36BCA04-7535-5AC8-25F1-449FE21C1391}"/>
              </a:ext>
            </a:extLst>
          </p:cNvPr>
          <p:cNvSpPr/>
          <p:nvPr/>
        </p:nvSpPr>
        <p:spPr>
          <a:xfrm>
            <a:off x="528711" y="1390571"/>
            <a:ext cx="11046336" cy="8963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altLang="es-CO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/>
              <a:t>El problema se centra en el impacto de la variación de los precios del diésel, el </a:t>
            </a: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 problema no es solo que el diésel suba, sino cómo esa subida se traduce en menores márgenes y mayor riesgo financiero.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b="1" dirty="0">
              <a:solidFill>
                <a:schemeClr val="tx1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" name="AutoShape 4" descr="Imagen de ">
            <a:extLst>
              <a:ext uri="{FF2B5EF4-FFF2-40B4-BE49-F238E27FC236}">
                <a16:creationId xmlns:a16="http://schemas.microsoft.com/office/drawing/2014/main" id="{0056F239-A1F0-72D0-D989-30DEA79BF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58865" y="2497501"/>
            <a:ext cx="4169230" cy="28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054" name="Picture 6" descr="mercado de índice de acciones de combustible de gasolina, gas, gasolina o  petróleo, valor o demanda,">
            <a:extLst>
              <a:ext uri="{FF2B5EF4-FFF2-40B4-BE49-F238E27FC236}">
                <a16:creationId xmlns:a16="http://schemas.microsoft.com/office/drawing/2014/main" id="{E6BE1459-424D-E0FB-0404-005A80975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546464"/>
            <a:ext cx="55626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C449739-EDA4-D6A3-D165-1794F00738AF}"/>
              </a:ext>
            </a:extLst>
          </p:cNvPr>
          <p:cNvSpPr txBox="1"/>
          <p:nvPr/>
        </p:nvSpPr>
        <p:spPr>
          <a:xfrm>
            <a:off x="6284358" y="2630472"/>
            <a:ext cx="5562600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 Alta dependencia del transporte de carga del diésel.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Volatilidad de precios.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 Dificultad para absorber aumentos en costos.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Afectación a pymes y transportadores independientes.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Traslado de costos a los clientes finales.</a:t>
            </a:r>
          </a:p>
        </p:txBody>
      </p:sp>
    </p:spTree>
    <p:extLst>
      <p:ext uri="{BB962C8B-B14F-4D97-AF65-F5344CB8AC3E}">
        <p14:creationId xmlns:p14="http://schemas.microsoft.com/office/powerpoint/2010/main" val="115447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3092-FD48-1AD0-B17D-1FA334F7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B2474B99-49A2-0802-F773-C5E2E9E97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02" y="1330477"/>
            <a:ext cx="11542096" cy="461825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FE99D9-622F-B194-BDF6-F961F331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1" y="138479"/>
            <a:ext cx="10515600" cy="1325563"/>
          </a:xfrm>
        </p:spPr>
        <p:txBody>
          <a:bodyPr/>
          <a:lstStyle/>
          <a:p>
            <a:br>
              <a:rPr lang="es-CO" sz="2800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419" dirty="0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AC9A0DEB-DF91-7516-ECA5-47258D396875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0F5EE74-911D-D13C-2B9E-18A86C7BE56A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2800" b="1" dirty="0">
                <a:solidFill>
                  <a:schemeClr val="tx1">
                    <a:lumMod val="50000"/>
                  </a:schemeClr>
                </a:solidFill>
              </a:rPr>
              <a:t>PREGUNTA DE INVESTIGACIÓN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4F31DC4-AF86-10E0-B975-CC5CB889546F}"/>
              </a:ext>
            </a:extLst>
          </p:cNvPr>
          <p:cNvSpPr/>
          <p:nvPr/>
        </p:nvSpPr>
        <p:spPr>
          <a:xfrm>
            <a:off x="651032" y="2656041"/>
            <a:ext cx="6031696" cy="9835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altLang="es-CO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2400" b="1" dirty="0">
                <a:solidFill>
                  <a:schemeClr val="bg1"/>
                </a:solidFill>
              </a:rPr>
              <a:t>¿ De qué manera las fluctuaciones en el precio del combustible impactan indicadores de costos y rentabilidad en el sector transporte de carga ?</a:t>
            </a:r>
            <a:endParaRPr lang="es-CO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b="1" dirty="0">
              <a:solidFill>
                <a:schemeClr val="tx1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" name="AutoShape 4" descr="Imagen de ">
            <a:extLst>
              <a:ext uri="{FF2B5EF4-FFF2-40B4-BE49-F238E27FC236}">
                <a16:creationId xmlns:a16="http://schemas.microsoft.com/office/drawing/2014/main" id="{9306E7A8-9B7F-AB19-E118-412AABD80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58865" y="2497501"/>
            <a:ext cx="4169230" cy="28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037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C901-D079-8CD9-0990-9CF2C2B1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7084EDCA-5467-0F01-9F5B-81530ADEF2F2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CF6A3C6-C139-0196-8D13-43023E691AA7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2800" b="1" dirty="0">
                <a:solidFill>
                  <a:schemeClr val="tx1">
                    <a:lumMod val="50000"/>
                  </a:schemeClr>
                </a:solidFill>
              </a:rPr>
              <a:t>OBJETIVO GENERAL Y ESPECIFICOS</a:t>
            </a:r>
            <a:endParaRPr lang="es-419" sz="28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AutoShape 4" descr="Imagen de ">
            <a:extLst>
              <a:ext uri="{FF2B5EF4-FFF2-40B4-BE49-F238E27FC236}">
                <a16:creationId xmlns:a16="http://schemas.microsoft.com/office/drawing/2014/main" id="{A3CCFE15-648C-A583-0265-703A3F423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58865" y="2497501"/>
            <a:ext cx="4169230" cy="28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34F190-BDA9-4110-4380-A3E9049C322D}"/>
              </a:ext>
            </a:extLst>
          </p:cNvPr>
          <p:cNvSpPr txBox="1"/>
          <p:nvPr/>
        </p:nvSpPr>
        <p:spPr>
          <a:xfrm>
            <a:off x="1535986" y="1989669"/>
            <a:ext cx="8815226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Modelar el comportamiento de los precios de los combustibles y cuantificar su efecto en la rentabilidad del transporte, para apoyar la toma de decisiones y políticas sectoriales.</a:t>
            </a:r>
            <a:endParaRPr lang="es-CO" sz="1600" b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Flecha: curvada hacia la derecha 15">
            <a:extLst>
              <a:ext uri="{FF2B5EF4-FFF2-40B4-BE49-F238E27FC236}">
                <a16:creationId xmlns:a16="http://schemas.microsoft.com/office/drawing/2014/main" id="{D6A63936-D7D3-3C5F-8F51-9FA3517C555A}"/>
              </a:ext>
            </a:extLst>
          </p:cNvPr>
          <p:cNvSpPr/>
          <p:nvPr/>
        </p:nvSpPr>
        <p:spPr>
          <a:xfrm rot="10800000">
            <a:off x="8558372" y="1368611"/>
            <a:ext cx="2940118" cy="1617921"/>
          </a:xfrm>
          <a:prstGeom prst="curvedRightArrow">
            <a:avLst>
              <a:gd name="adj1" fmla="val 17788"/>
              <a:gd name="adj2" fmla="val 43092"/>
              <a:gd name="adj3" fmla="val 25000"/>
            </a:avLst>
          </a:prstGeom>
          <a:solidFill>
            <a:srgbClr val="FFFFFF"/>
          </a:solidFill>
          <a:ln w="25400" cap="flat">
            <a:solidFill>
              <a:schemeClr val="bg2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7" name="Flecha: curvada hacia la derecha 16">
            <a:extLst>
              <a:ext uri="{FF2B5EF4-FFF2-40B4-BE49-F238E27FC236}">
                <a16:creationId xmlns:a16="http://schemas.microsoft.com/office/drawing/2014/main" id="{6A7B37B9-C15B-59D9-3BD7-9B4469E7885A}"/>
              </a:ext>
            </a:extLst>
          </p:cNvPr>
          <p:cNvSpPr/>
          <p:nvPr/>
        </p:nvSpPr>
        <p:spPr>
          <a:xfrm>
            <a:off x="277402" y="1566783"/>
            <a:ext cx="2671278" cy="1617921"/>
          </a:xfrm>
          <a:prstGeom prst="curvedRightArrow">
            <a:avLst>
              <a:gd name="adj1" fmla="val 17788"/>
              <a:gd name="adj2" fmla="val 43092"/>
              <a:gd name="adj3" fmla="val 25000"/>
            </a:avLst>
          </a:prstGeom>
          <a:solidFill>
            <a:srgbClr val="FFFFFF"/>
          </a:solidFill>
          <a:ln w="25400" cap="flat">
            <a:solidFill>
              <a:schemeClr val="bg2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8" name="CustomShape 2">
            <a:extLst>
              <a:ext uri="{FF2B5EF4-FFF2-40B4-BE49-F238E27FC236}">
                <a16:creationId xmlns:a16="http://schemas.microsoft.com/office/drawing/2014/main" id="{C9A16302-B31E-DE46-84E4-6CA79F72075D}"/>
              </a:ext>
            </a:extLst>
          </p:cNvPr>
          <p:cNvSpPr/>
          <p:nvPr/>
        </p:nvSpPr>
        <p:spPr>
          <a:xfrm>
            <a:off x="591895" y="3673297"/>
            <a:ext cx="6031696" cy="4363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Analizar evolución histórica del diésel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altLang="es-CO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2400" b="1" dirty="0">
                <a:solidFill>
                  <a:schemeClr val="bg1"/>
                </a:solidFill>
              </a:rPr>
              <a:t>¿ De qué manera las fluctuaciones en el precio del c impactan indicadores de</a:t>
            </a:r>
            <a:endParaRPr lang="es-ES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E91F8D7-A693-A5C4-59F2-6CE6E2A0BF64}"/>
              </a:ext>
            </a:extLst>
          </p:cNvPr>
          <p:cNvSpPr txBox="1"/>
          <p:nvPr/>
        </p:nvSpPr>
        <p:spPr>
          <a:xfrm>
            <a:off x="2494247" y="4407471"/>
            <a:ext cx="657973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Construir un modelo predictivo (ARIMA, SARIMA, ARIMAX)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608B9CB-A008-721C-DC04-D0141912827C}"/>
              </a:ext>
            </a:extLst>
          </p:cNvPr>
          <p:cNvSpPr txBox="1"/>
          <p:nvPr/>
        </p:nvSpPr>
        <p:spPr>
          <a:xfrm>
            <a:off x="5645649" y="5188969"/>
            <a:ext cx="6097712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Evaluar escenarios (optimista, base, pesimista)</a:t>
            </a:r>
          </a:p>
        </p:txBody>
      </p:sp>
      <p:sp>
        <p:nvSpPr>
          <p:cNvPr id="21" name="Flecha: doblada hacia arriba 20">
            <a:extLst>
              <a:ext uri="{FF2B5EF4-FFF2-40B4-BE49-F238E27FC236}">
                <a16:creationId xmlns:a16="http://schemas.microsoft.com/office/drawing/2014/main" id="{CA8F9C49-FBC2-A388-E903-303E67F0B8B5}"/>
              </a:ext>
            </a:extLst>
          </p:cNvPr>
          <p:cNvSpPr/>
          <p:nvPr/>
        </p:nvSpPr>
        <p:spPr>
          <a:xfrm rot="5400000">
            <a:off x="1454960" y="3933096"/>
            <a:ext cx="448041" cy="948749"/>
          </a:xfrm>
          <a:prstGeom prst="bentUpArrow">
            <a:avLst>
              <a:gd name="adj1" fmla="val 32416"/>
              <a:gd name="adj2" fmla="val 25000"/>
              <a:gd name="adj3" fmla="val 25000"/>
            </a:avLst>
          </a:prstGeom>
          <a:solidFill>
            <a:srgbClr val="FFFFFF"/>
          </a:solidFill>
          <a:ln w="25400" cap="flat">
            <a:solidFill>
              <a:schemeClr val="tx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2" name="Flecha: doblada hacia arriba 21">
            <a:extLst>
              <a:ext uri="{FF2B5EF4-FFF2-40B4-BE49-F238E27FC236}">
                <a16:creationId xmlns:a16="http://schemas.microsoft.com/office/drawing/2014/main" id="{5B2ABB20-60CA-2A14-B83D-5E143BE5F63F}"/>
              </a:ext>
            </a:extLst>
          </p:cNvPr>
          <p:cNvSpPr/>
          <p:nvPr/>
        </p:nvSpPr>
        <p:spPr>
          <a:xfrm rot="5400000">
            <a:off x="4606362" y="4772448"/>
            <a:ext cx="448041" cy="948749"/>
          </a:xfrm>
          <a:prstGeom prst="bentUpArrow">
            <a:avLst>
              <a:gd name="adj1" fmla="val 32416"/>
              <a:gd name="adj2" fmla="val 25000"/>
              <a:gd name="adj3" fmla="val 25000"/>
            </a:avLst>
          </a:prstGeom>
          <a:solidFill>
            <a:srgbClr val="FFFFFF"/>
          </a:solidFill>
          <a:ln w="25400" cap="flat">
            <a:solidFill>
              <a:schemeClr val="tx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38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D2BC-EFF8-BC03-28AA-FEF4CA8D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ABDA36A1-B25F-5983-3062-01EDC63955A4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5AD5128-7D89-D57F-0BB1-921030EF5726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2800" b="1" dirty="0">
                <a:solidFill>
                  <a:schemeClr val="tx1">
                    <a:lumMod val="50000"/>
                  </a:schemeClr>
                </a:solidFill>
              </a:rPr>
              <a:t>ALCANCE Y DELIMITACIÓN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743E3ACA-8238-D5FB-5B77-D362B073A829}"/>
              </a:ext>
            </a:extLst>
          </p:cNvPr>
          <p:cNvSpPr/>
          <p:nvPr/>
        </p:nvSpPr>
        <p:spPr>
          <a:xfrm>
            <a:off x="448639" y="1603527"/>
            <a:ext cx="10112743" cy="40721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Periodo: 2014–2024. 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Combustible analizado: Diésel (ACPM).</a:t>
            </a: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Enfoque: transporte de carga en Colombia.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Datos oficiales (DANE, UPME </a:t>
            </a:r>
            <a:r>
              <a:rPr lang="es-ES" dirty="0"/>
              <a:t>Unidad de Planeación Minero Energética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, Banco de la República).</a:t>
            </a: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dirty="0"/>
              <a:t>No se realiza un modelado técnico de alternativas energéticas.</a:t>
            </a:r>
            <a:endParaRPr lang="es-ES" altLang="es-CO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AutoShape 4" descr="Imagen de ">
            <a:extLst>
              <a:ext uri="{FF2B5EF4-FFF2-40B4-BE49-F238E27FC236}">
                <a16:creationId xmlns:a16="http://schemas.microsoft.com/office/drawing/2014/main" id="{E254B9B5-F660-A4A1-7812-67274CE27C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58865" y="2497501"/>
            <a:ext cx="4169230" cy="28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53190377-4F4D-3E1A-2640-EE277462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810" y="1440924"/>
            <a:ext cx="704850" cy="609600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A2C22852-8E28-9F60-28BA-BEA374C77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448" y="2031022"/>
            <a:ext cx="904875" cy="85725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8904AEC1-614C-29E8-A346-86C248B88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136" y="3024797"/>
            <a:ext cx="1019175" cy="800100"/>
          </a:xfrm>
          <a:prstGeom prst="rect">
            <a:avLst/>
          </a:prstGeom>
        </p:spPr>
      </p:pic>
      <p:pic>
        <p:nvPicPr>
          <p:cNvPr id="21" name="Imagen 20" descr="Icono&#10;&#10;El contenido generado por IA puede ser incorrecto.">
            <a:extLst>
              <a:ext uri="{FF2B5EF4-FFF2-40B4-BE49-F238E27FC236}">
                <a16:creationId xmlns:a16="http://schemas.microsoft.com/office/drawing/2014/main" id="{45779045-2581-5F4C-B821-672C846A5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9353" y="3792242"/>
            <a:ext cx="733425" cy="723900"/>
          </a:xfrm>
          <a:prstGeom prst="rect">
            <a:avLst/>
          </a:prstGeom>
        </p:spPr>
      </p:pic>
      <p:pic>
        <p:nvPicPr>
          <p:cNvPr id="23" name="Imagen 22" descr="Texto&#10;&#10;El contenido generado por IA puede ser incorrecto.">
            <a:extLst>
              <a:ext uri="{FF2B5EF4-FFF2-40B4-BE49-F238E27FC236}">
                <a16:creationId xmlns:a16="http://schemas.microsoft.com/office/drawing/2014/main" id="{DFC5A174-954C-25F4-8059-D68602E6E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677" y="5014617"/>
            <a:ext cx="2210676" cy="6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3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AE056-331C-6BEE-959B-A11B0765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CE0E6CB6-B0F5-2655-4A80-FB0B588F7925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D5C03D-37F1-A838-F142-33C6972B43DC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TENDENCIAS HISTÓRICAS DEL DIÉSEL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41774B0-C7DC-C4ED-DC2B-30E915C60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63" y="1521936"/>
            <a:ext cx="49852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Tendencia creciente estructural del precio del diésel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Caída puntual en 2020 asociada a la pandemia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7ED89509-2F06-59F4-62DB-A00602BDA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116" y="2845375"/>
            <a:ext cx="6973066" cy="336724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B835E0D-0C3D-6432-8481-60FD1828F6C2}"/>
              </a:ext>
            </a:extLst>
          </p:cNvPr>
          <p:cNvSpPr txBox="1"/>
          <p:nvPr/>
        </p:nvSpPr>
        <p:spPr>
          <a:xfrm>
            <a:off x="5645649" y="1444991"/>
            <a:ext cx="6097712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Incrementos fuertes entre 2023 y 2024 por ajuste del FEPC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El diésel se consolida como el principal factor de presión de costos</a:t>
            </a:r>
          </a:p>
        </p:txBody>
      </p:sp>
    </p:spTree>
    <p:extLst>
      <p:ext uri="{BB962C8B-B14F-4D97-AF65-F5344CB8AC3E}">
        <p14:creationId xmlns:p14="http://schemas.microsoft.com/office/powerpoint/2010/main" val="302796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341D-A821-F98C-909E-E212097B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7F54C2F9-2208-F51A-90DE-D6C7D4BB51F8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5DE6987-2F33-C974-1E22-FDFDD4383D8C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RELACIÓN DIESEL CON EL ICTC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7974B6-9FBB-BCA2-0E04-BFC247453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39" y="1495854"/>
            <a:ext cx="67217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El combustible pesa 40,20% del ICTC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Alta sensibilidad del costo total del transporte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Cambios en el diésel se trasladan directamente a los costos operativos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E6891D-C943-4CE0-4663-A1905393795B}"/>
              </a:ext>
            </a:extLst>
          </p:cNvPr>
          <p:cNvSpPr txBox="1"/>
          <p:nvPr/>
        </p:nvSpPr>
        <p:spPr>
          <a:xfrm>
            <a:off x="579607" y="3429000"/>
            <a:ext cx="3229888" cy="1569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latin typeface="Aral"/>
              </a:rPr>
              <a:t>¿Qué pasa si el Diesel sube 10%?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latin typeface="Aral"/>
              </a:rPr>
              <a:t>10% * 0,4020 = 4,02 %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latin typeface="Aral"/>
              </a:rPr>
              <a:t>Porcentaje que se traslada al costo total  4,02%</a:t>
            </a:r>
            <a:endParaRPr lang="es-CO" sz="1600" dirty="0">
              <a:solidFill>
                <a:schemeClr val="tx1"/>
              </a:solidFill>
              <a:latin typeface="Aral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01154E-B4CE-37DB-88CD-838E0A720A5C}"/>
              </a:ext>
            </a:extLst>
          </p:cNvPr>
          <p:cNvSpPr txBox="1"/>
          <p:nvPr/>
        </p:nvSpPr>
        <p:spPr>
          <a:xfrm>
            <a:off x="4111700" y="3206606"/>
            <a:ext cx="4618812" cy="3046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Supongamos que el costo total de operar un camión en un viaje es de $ 1.000.000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El Diesel representa 40.20% de ese $1.000.000 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1.000.000 * 0.4020 = $ 402.000 → Diesel (40.20%)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$598.000 → Otros costos que NO cambian si sube el Diesel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Si el Diesel sube 10%, ¿qué pasa con el costo total?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402.000 × 10% = 40.200 </a:t>
            </a:r>
            <a:endParaRPr lang="es-ES" sz="1600" dirty="0">
              <a:solidFill>
                <a:schemeClr val="tx1"/>
              </a:solidFill>
              <a:latin typeface="Aral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9B2D864-F636-FD59-0DDC-DF3CB99D5434}"/>
              </a:ext>
            </a:extLst>
          </p:cNvPr>
          <p:cNvSpPr txBox="1"/>
          <p:nvPr/>
        </p:nvSpPr>
        <p:spPr>
          <a:xfrm>
            <a:off x="9092340" y="3465424"/>
            <a:ext cx="3390083" cy="2062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 Se lo sumamos al costo total de transporte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   Aumento por ACPM: $40.200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   1.000.000 + 40.200 =   $ 1.040.200.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sz="1600" dirty="0">
              <a:solidFill>
                <a:schemeClr val="tx1"/>
              </a:solidFill>
              <a:latin typeface="Aral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1600" dirty="0">
                <a:solidFill>
                  <a:schemeClr val="tx1"/>
                </a:solidFill>
                <a:latin typeface="Aral"/>
              </a:rPr>
              <a:t> El nuevo costo total sería: $1.040.200 para un viaje.</a:t>
            </a:r>
          </a:p>
        </p:txBody>
      </p:sp>
    </p:spTree>
    <p:extLst>
      <p:ext uri="{BB962C8B-B14F-4D97-AF65-F5344CB8AC3E}">
        <p14:creationId xmlns:p14="http://schemas.microsoft.com/office/powerpoint/2010/main" val="126218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9EB2-ABF1-EB78-3EB1-DB3AEE83A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F5706EDC-5760-0350-A101-82B8B3F1780A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F5C1D55A-1476-871B-C7F2-4C35011F13C0}"/>
              </a:ext>
            </a:extLst>
          </p:cNvPr>
          <p:cNvSpPr/>
          <p:nvPr/>
        </p:nvSpPr>
        <p:spPr>
          <a:xfrm>
            <a:off x="520602" y="1751690"/>
            <a:ext cx="5489779" cy="41970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al"/>
              </a:rPr>
              <a:t>Mercado de combustibles regulado </a:t>
            </a:r>
            <a:r>
              <a:rPr lang="es-CO" altLang="es-CO" sz="1600">
                <a:solidFill>
                  <a:schemeClr val="tx1"/>
                </a:solidFill>
                <a:latin typeface="Aral"/>
              </a:rPr>
              <a:t>en Colombia: </a:t>
            </a:r>
            <a:r>
              <a:rPr lang="es-ES" sz="1600" dirty="0">
                <a:solidFill>
                  <a:schemeClr val="tx1"/>
                </a:solidFill>
                <a:latin typeface="Aral"/>
              </a:rPr>
              <a:t>Ministerio de Minas y Energía y la Comisión de Regulación de Energía y Gas (CREG)  </a:t>
            </a: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dirty="0">
              <a:solidFill>
                <a:schemeClr val="tx1"/>
              </a:solidFill>
              <a:latin typeface="Aral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al"/>
              </a:rPr>
              <a:t>El combustible representa ≈ 40,20% del costo total</a:t>
            </a:r>
            <a:endParaRPr lang="es-CO" altLang="es-CO" sz="1600" dirty="0">
              <a:solidFill>
                <a:schemeClr val="tx1"/>
              </a:solidFill>
              <a:latin typeface="Aral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dirty="0"/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al"/>
              </a:rPr>
              <a:t>Fondo de Estabilización de Precios de los Combustibles (FEPC)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altLang="es-CO" sz="1600" dirty="0">
              <a:solidFill>
                <a:schemeClr val="tx1"/>
              </a:solidFill>
              <a:latin typeface="Aral"/>
              <a:ea typeface="+mj-ea"/>
              <a:cs typeface="+mj-cs"/>
            </a:endParaRP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al"/>
              </a:rPr>
              <a:t>Transporte de carga altamente dependiente del diésel</a:t>
            </a: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al"/>
            </a:endParaRP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al"/>
              </a:rPr>
              <a:t>Indicador clave: ICTC (DANE)</a:t>
            </a: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al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al"/>
              </a:rPr>
              <a:t>Influencia del Brent, la TRM y el FEPC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al"/>
              <a:ea typeface="+mj-ea"/>
              <a:cs typeface="+mj-cs"/>
            </a:endParaRP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marL="342900" lvl="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sz="2400" b="1" dirty="0">
                <a:solidFill>
                  <a:schemeClr val="bg1"/>
                </a:solidFill>
              </a:rPr>
              <a:t>ores de costos y rentabilidad en el sector transporte de carga ?</a:t>
            </a:r>
            <a:endParaRPr lang="es-CO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b="1" dirty="0">
              <a:solidFill>
                <a:schemeClr val="tx1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" name="AutoShape 4" descr="Imagen de ">
            <a:extLst>
              <a:ext uri="{FF2B5EF4-FFF2-40B4-BE49-F238E27FC236}">
                <a16:creationId xmlns:a16="http://schemas.microsoft.com/office/drawing/2014/main" id="{8ADFE9C0-CA4B-ACD1-AAC9-F9D942806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58865" y="2497501"/>
            <a:ext cx="4169230" cy="285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824F9837-DBE6-06CB-2D94-68AB4A91E7AC}"/>
              </a:ext>
            </a:extLst>
          </p:cNvPr>
          <p:cNvSpPr txBox="1">
            <a:spLocks/>
          </p:cNvSpPr>
          <p:nvPr/>
        </p:nvSpPr>
        <p:spPr>
          <a:xfrm>
            <a:off x="10848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b="1" dirty="0">
                <a:solidFill>
                  <a:schemeClr val="tx1">
                    <a:lumMod val="50000"/>
                  </a:schemeClr>
                </a:solidFill>
              </a:rPr>
              <a:t>MARCO TEÓRICO (CONTEXTO Y COSTOS)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4" name="Imagen 3" descr="Una carretera con coches&#10;&#10;El contenido generado por IA puede ser incorrecto.">
            <a:extLst>
              <a:ext uri="{FF2B5EF4-FFF2-40B4-BE49-F238E27FC236}">
                <a16:creationId xmlns:a16="http://schemas.microsoft.com/office/drawing/2014/main" id="{0C22C8AB-0DAC-18AB-2E91-9160FE3B2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02" y="1514467"/>
            <a:ext cx="4984496" cy="425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2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09D8-CAD7-D867-6CC3-02EB6F5C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00AB07DC-5BDC-CA26-7E73-A51C4050727E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8EF1151-5B90-16A3-9544-7209D2571212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b="1" dirty="0">
                <a:solidFill>
                  <a:schemeClr val="tx1">
                    <a:lumMod val="50000"/>
                  </a:schemeClr>
                </a:solidFill>
              </a:rPr>
              <a:t>MARCO TEÓRICO (RENTABILIDAD Y MODELOS)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7944EB-23FB-1B88-BCB3-FFEF0062B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438" y="1692650"/>
            <a:ext cx="240876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Aumentos del ACPM  presión sobre la rentabilidad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Dificultad para trasladar costos al flete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Mayor impacto en pymes y transportadores independientes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425CBF9-1093-543F-AD48-2B1CE1EA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655" y="1740959"/>
            <a:ext cx="370501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Uso de series de tiempo para analizar precios</a:t>
            </a: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Modelos ARIMA, SARIMA y ARIMAX</a:t>
            </a:r>
          </a:p>
        </p:txBody>
      </p:sp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81B94E1D-1FEF-C345-95F1-594C8AE6A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0" y="1740959"/>
            <a:ext cx="628650" cy="733425"/>
          </a:xfrm>
          <a:prstGeom prst="rect">
            <a:avLst/>
          </a:prstGeom>
        </p:spPr>
      </p:pic>
      <p:pic>
        <p:nvPicPr>
          <p:cNvPr id="15" name="Imagen 14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54B20030-D23A-3594-12BA-6DB90E825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786" y="1474404"/>
            <a:ext cx="1476375" cy="1057275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8604B268-51C0-38C9-0DEB-88F49DD78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74" y="3161989"/>
            <a:ext cx="809625" cy="64770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3F2E3B49-576F-8802-51A7-5A0D57A3E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632" y="3049932"/>
            <a:ext cx="1343025" cy="904875"/>
          </a:xfrm>
          <a:prstGeom prst="rect">
            <a:avLst/>
          </a:prstGeom>
        </p:spPr>
      </p:pic>
      <p:pic>
        <p:nvPicPr>
          <p:cNvPr id="21" name="Imagen 20" descr="Icono&#10;&#10;El contenido generado por IA puede ser incorrecto.">
            <a:extLst>
              <a:ext uri="{FF2B5EF4-FFF2-40B4-BE49-F238E27FC236}">
                <a16:creationId xmlns:a16="http://schemas.microsoft.com/office/drawing/2014/main" id="{A603D7F2-3E83-26FD-E192-3B473B8F46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273" y="4497294"/>
            <a:ext cx="657225" cy="628650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7E2144DE-78E4-EC97-A1BD-AB112A43C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207" y="4488246"/>
            <a:ext cx="1285875" cy="895350"/>
          </a:xfrm>
          <a:prstGeom prst="rect">
            <a:avLst/>
          </a:prstGeom>
        </p:spPr>
      </p:pic>
      <p:pic>
        <p:nvPicPr>
          <p:cNvPr id="28" name="Imagen 27" descr="Círculo&#10;&#10;El contenido generado por IA puede ser incorrecto.">
            <a:extLst>
              <a:ext uri="{FF2B5EF4-FFF2-40B4-BE49-F238E27FC236}">
                <a16:creationId xmlns:a16="http://schemas.microsoft.com/office/drawing/2014/main" id="{73AF6591-650B-DDBA-309D-93190CD0B0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7891" y="2527626"/>
            <a:ext cx="733425" cy="942975"/>
          </a:xfrm>
          <a:prstGeom prst="rect">
            <a:avLst/>
          </a:prstGeom>
        </p:spPr>
      </p:pic>
      <p:pic>
        <p:nvPicPr>
          <p:cNvPr id="32" name="Imagen 31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CD2D6BF8-DA1F-6E69-D98B-C9F266C1F6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8363" y="4378231"/>
            <a:ext cx="21336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1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1EBE-C171-1AA3-1E2D-FB2E8C80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CD05F37A-E3D4-1973-2EBF-310BE8DDB9F2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49D1656-748C-A4BB-DDB7-0EB6B98CDDED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METODOLOGÍA (DISEÑO Y DATOS)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2B871EF-B8BA-A0F2-3E6B-8551421E7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67" y="1822918"/>
            <a:ext cx="909488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Enfoque cuantitativo y longitudinal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Series de tiempo mensuales (2014–2024)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Fuentes oficiales: DANE, UPME, Banco de la República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Variable objetivo: precio del diésel (ACPM)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Variables explicativas: Brent, TRM, ICTC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F6C6BFAC-C6AE-71F4-EB31-1C322E16F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444" y="2228101"/>
            <a:ext cx="5000089" cy="31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3535-66A5-1A9B-EB0E-10D300BB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3AFE13F7-3FD0-45CC-DC82-3C020A62A7AF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9EF4ACF-9DCC-923A-96FF-7E863A3686A8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METODOLOGÍA (MODELADO Y ESCENARIOS)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34DD762-4690-0A3F-45EF-CB65D533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3747" y="1577502"/>
            <a:ext cx="498522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Análisis exploratorio y validación temporal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Modelo ARIMAX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Escenarios: optimista, base y pesimista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Simulación del impacto en costos y rentabilidad</a:t>
            </a:r>
          </a:p>
        </p:txBody>
      </p:sp>
      <p:pic>
        <p:nvPicPr>
          <p:cNvPr id="27" name="Imagen 26" descr="Diagrama&#10;&#10;El contenido generado por IA puede ser incorrecto.">
            <a:extLst>
              <a:ext uri="{FF2B5EF4-FFF2-40B4-BE49-F238E27FC236}">
                <a16:creationId xmlns:a16="http://schemas.microsoft.com/office/drawing/2014/main" id="{22FA71DF-95BB-0259-2C36-33F3B3529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315" y="1277672"/>
            <a:ext cx="2159206" cy="3291904"/>
          </a:xfrm>
          <a:prstGeom prst="rect">
            <a:avLst/>
          </a:prstGeom>
        </p:spPr>
      </p:pic>
      <p:pic>
        <p:nvPicPr>
          <p:cNvPr id="29" name="Imagen 28" descr="Diagrama&#10;&#10;El contenido generado por IA puede ser incorrecto.">
            <a:extLst>
              <a:ext uri="{FF2B5EF4-FFF2-40B4-BE49-F238E27FC236}">
                <a16:creationId xmlns:a16="http://schemas.microsoft.com/office/drawing/2014/main" id="{0F993BD4-3EEF-8FCF-08AA-9F546BDDE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720" y="4569576"/>
            <a:ext cx="2145801" cy="1929748"/>
          </a:xfrm>
          <a:prstGeom prst="rect">
            <a:avLst/>
          </a:prstGeom>
        </p:spPr>
      </p:pic>
      <p:pic>
        <p:nvPicPr>
          <p:cNvPr id="31" name="Imagen 30" descr="Polígono&#10;&#10;El contenido generado por IA puede ser incorrecto.">
            <a:extLst>
              <a:ext uri="{FF2B5EF4-FFF2-40B4-BE49-F238E27FC236}">
                <a16:creationId xmlns:a16="http://schemas.microsoft.com/office/drawing/2014/main" id="{03E61D7A-EACE-6AE5-19ED-BC5C7B7E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59" y="3598174"/>
            <a:ext cx="6256962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4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BD62-0245-F68E-D164-C0776E6B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5938D697-F3DE-1C5A-2CBC-2CC342F0014B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CE31FBC-2A1A-7465-7193-DE3A70E5FC4C}"/>
              </a:ext>
            </a:extLst>
          </p:cNvPr>
          <p:cNvSpPr txBox="1">
            <a:spLocks/>
          </p:cNvSpPr>
          <p:nvPr/>
        </p:nvSpPr>
        <p:spPr>
          <a:xfrm>
            <a:off x="932420" y="131407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MODELO PREDICTIVO SELECCIONADO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000F1F-0B7F-F930-4475-59ACF5C4FF75}"/>
              </a:ext>
            </a:extLst>
          </p:cNvPr>
          <p:cNvSpPr txBox="1"/>
          <p:nvPr/>
        </p:nvSpPr>
        <p:spPr>
          <a:xfrm>
            <a:off x="448639" y="2059388"/>
            <a:ext cx="451292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Modelo elegido: ARIMAX</a:t>
            </a: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Razones de selección: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Incorpora variables externas</a:t>
            </a:r>
          </a:p>
          <a:p>
            <a:pPr marL="742950" lvl="1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Mejor capacidad explicativa</a:t>
            </a:r>
          </a:p>
          <a:p>
            <a:pPr marL="742950" lvl="1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Adecuado para un mercado regulado</a:t>
            </a:r>
          </a:p>
          <a:p>
            <a:pPr marL="457200" lvl="1"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Variable objetivo: Precio del diésel</a:t>
            </a: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Variables exógenas: Brent, TRM, ICTC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144BA9-BC42-C885-4B2D-FFB1FAA3E340}"/>
              </a:ext>
            </a:extLst>
          </p:cNvPr>
          <p:cNvSpPr txBox="1"/>
          <p:nvPr/>
        </p:nvSpPr>
        <p:spPr>
          <a:xfrm>
            <a:off x="5132800" y="1762115"/>
            <a:ext cx="60977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l-GR" sz="2000" b="1" dirty="0"/>
              <a:t>Δ</a:t>
            </a:r>
            <a:r>
              <a:rPr lang="es-CO" sz="2000" b="1" dirty="0" err="1"/>
              <a:t>Dieselt</a:t>
            </a:r>
            <a:r>
              <a:rPr lang="es-CO" sz="2000" b="1" dirty="0"/>
              <a:t>​=c+</a:t>
            </a:r>
            <a:r>
              <a:rPr lang="el-GR" sz="2000" b="1" dirty="0"/>
              <a:t>ϕ1​Δ</a:t>
            </a:r>
            <a:r>
              <a:rPr lang="es-CO" sz="2000" b="1" dirty="0"/>
              <a:t>Dieselt−1​+</a:t>
            </a:r>
            <a:r>
              <a:rPr lang="el-GR" sz="2000" b="1" dirty="0"/>
              <a:t>θ1​ε</a:t>
            </a:r>
            <a:r>
              <a:rPr lang="es-CO" sz="2000" b="1" dirty="0"/>
              <a:t>t−1​+</a:t>
            </a:r>
            <a:r>
              <a:rPr lang="el-GR" sz="2000" b="1" dirty="0"/>
              <a:t>β1​</a:t>
            </a:r>
            <a:r>
              <a:rPr lang="es-CO" sz="2000" b="1" dirty="0" err="1"/>
              <a:t>Brentt</a:t>
            </a:r>
            <a:r>
              <a:rPr lang="es-CO" sz="2000" b="1" dirty="0"/>
              <a:t>​+</a:t>
            </a:r>
            <a:r>
              <a:rPr lang="el-GR" sz="2000" b="1" dirty="0"/>
              <a:t>β2​</a:t>
            </a:r>
            <a:r>
              <a:rPr lang="es-CO" sz="2000" b="1" dirty="0" err="1"/>
              <a:t>TRMt</a:t>
            </a:r>
            <a:r>
              <a:rPr lang="es-CO" sz="2000" b="1" dirty="0"/>
              <a:t>​+</a:t>
            </a:r>
            <a:r>
              <a:rPr lang="el-GR" sz="2000" b="1" dirty="0"/>
              <a:t>ε</a:t>
            </a:r>
            <a:r>
              <a:rPr lang="es-CO" sz="2000" b="1" dirty="0"/>
              <a:t>t</a:t>
            </a:r>
            <a:r>
              <a:rPr lang="es-CO" dirty="0"/>
              <a:t>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5F6E33-EBD8-7F63-77BF-96775F06C3F1}"/>
                  </a:ext>
                </a:extLst>
              </p:cNvPr>
              <p:cNvSpPr txBox="1"/>
              <p:nvPr/>
            </p:nvSpPr>
            <p:spPr>
              <a:xfrm>
                <a:off x="5645649" y="2372831"/>
                <a:ext cx="6097712" cy="28623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s-CO" b="1" dirty="0"/>
                  <a:t>Dinámica propia del precio del diésel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s-CO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s-CO" dirty="0"/>
                  <a:t>efecto del mes anterior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s-CO" dirty="0"/>
                  <a:t>corrección de choques previos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s-CO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CO" b="1" dirty="0"/>
                  <a:t>Variables externas (exógenas)</a:t>
                </a:r>
                <a:endParaRPr lang="es-CO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s-CO" dirty="0"/>
                  <a:t>precio internacional del Brent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s-CO" dirty="0"/>
                  <a:t>tasa de cambio (TRM)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ICTC: presión de costos internos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s-CO" dirty="0"/>
                  <a:t>factores no observados (ruido del mercado)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5F6E33-EBD8-7F63-77BF-96775F06C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649" y="2372831"/>
                <a:ext cx="6097712" cy="2862322"/>
              </a:xfrm>
              <a:prstGeom prst="rect">
                <a:avLst/>
              </a:prstGeom>
              <a:blipFill>
                <a:blip r:embed="rId2"/>
                <a:stretch>
                  <a:fillRect l="-600" t="-1064" b="-234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37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C8DC-D69C-8170-EFE1-48B78CF5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3A638A2-E3C2-009D-7AB7-EB11238E24AC}"/>
              </a:ext>
            </a:extLst>
          </p:cNvPr>
          <p:cNvSpPr/>
          <p:nvPr/>
        </p:nvSpPr>
        <p:spPr>
          <a:xfrm>
            <a:off x="448639" y="4490855"/>
            <a:ext cx="5130228" cy="1075704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rgbClr val="0070C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709DEACD-F8F6-C83F-E453-62B738E3433A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683F55D-1DD2-78AA-B18B-5DAEB1769B57}"/>
              </a:ext>
            </a:extLst>
          </p:cNvPr>
          <p:cNvSpPr txBox="1">
            <a:spLocks/>
          </p:cNvSpPr>
          <p:nvPr/>
        </p:nvSpPr>
        <p:spPr>
          <a:xfrm>
            <a:off x="922146" y="265105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 lnSpcReduction="10000"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b="1" dirty="0">
                <a:solidFill>
                  <a:schemeClr val="tx1">
                    <a:lumMod val="50000"/>
                  </a:schemeClr>
                </a:solidFill>
              </a:rPr>
              <a:t>RESULTADOS – HALLAZGOS DEL MODELO ARIMAX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EBBEF7-DF40-BB20-26DD-E3E2FB06BB31}"/>
              </a:ext>
            </a:extLst>
          </p:cNvPr>
          <p:cNvSpPr txBox="1"/>
          <p:nvPr/>
        </p:nvSpPr>
        <p:spPr>
          <a:xfrm>
            <a:off x="843337" y="2097119"/>
            <a:ext cx="4512924" cy="18158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Fuerte dependencia temporal del precio del diésel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ICTC es la variable más significativa</a:t>
            </a: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Brent y TRM amortiguados por regulación (FEPC)</a:t>
            </a:r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79DA5C4C-0ABA-BA1B-7CC4-73DEB7163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104" y="1877266"/>
            <a:ext cx="5599414" cy="407147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6110714-2FB7-B538-A0B8-62ADC88DF208}"/>
              </a:ext>
            </a:extLst>
          </p:cNvPr>
          <p:cNvSpPr txBox="1"/>
          <p:nvPr/>
        </p:nvSpPr>
        <p:spPr>
          <a:xfrm>
            <a:off x="734601" y="4567042"/>
            <a:ext cx="455830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ES" dirty="0"/>
              <a:t>El precio del diésel en Colombia no se comporta como un mercado libre, sino como un precio regulado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2530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FEAD-0B53-39C8-079F-B228B07D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2860248C-1D48-8DC7-4603-60FF6311554C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DA90A6-CF0F-20E1-DF75-0E380494741E}"/>
              </a:ext>
            </a:extLst>
          </p:cNvPr>
          <p:cNvSpPr txBox="1">
            <a:spLocks/>
          </p:cNvSpPr>
          <p:nvPr/>
        </p:nvSpPr>
        <p:spPr>
          <a:xfrm>
            <a:off x="922146" y="265105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b="1" dirty="0">
                <a:solidFill>
                  <a:schemeClr val="tx1">
                    <a:lumMod val="50000"/>
                  </a:schemeClr>
                </a:solidFill>
              </a:rPr>
              <a:t>PROYECCIONES DE PRECIOS DEL DIÉSEL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7A6C1E9-8B3B-C556-039D-C7F7DED8AE23}"/>
              </a:ext>
            </a:extLst>
          </p:cNvPr>
          <p:cNvSpPr txBox="1"/>
          <p:nvPr/>
        </p:nvSpPr>
        <p:spPr>
          <a:xfrm>
            <a:off x="515206" y="1532003"/>
            <a:ext cx="5140503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Optimista, económico favorable, donde se reducen los principales determinantes del precio del diésel:</a:t>
            </a:r>
          </a:p>
          <a:p>
            <a:b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Brent ↓ 10% → </a:t>
            </a:r>
            <a:r>
              <a:rPr lang="es-CO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Brent_opt</a:t>
            </a: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TRM ↓ 5% → </a:t>
            </a:r>
            <a:r>
              <a:rPr lang="es-CO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TRM_opt</a:t>
            </a: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ICTC ↓ 3% → </a:t>
            </a:r>
            <a:r>
              <a:rPr lang="es-CO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ICTC_opt</a:t>
            </a:r>
            <a:endParaRPr lang="es-CO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80EC0A-E0E2-6657-7711-E9ECA8649B66}"/>
              </a:ext>
            </a:extLst>
          </p:cNvPr>
          <p:cNvSpPr txBox="1"/>
          <p:nvPr/>
        </p:nvSpPr>
        <p:spPr>
          <a:xfrm>
            <a:off x="5893513" y="1588054"/>
            <a:ext cx="5442736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Para el escenario pesimista hace todo lo contexto contrario al escenario pesimista. </a:t>
            </a:r>
          </a:p>
          <a:p>
            <a:b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Brent ↑ 10% → </a:t>
            </a:r>
            <a:r>
              <a:rPr lang="es-CO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Brent_pes</a:t>
            </a: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TRM ↑ 8% → </a:t>
            </a:r>
            <a:r>
              <a:rPr lang="es-CO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TRM_pes</a:t>
            </a: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ICTC ↑ 5% → </a:t>
            </a:r>
            <a:r>
              <a:rPr lang="es-CO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ICTC_pes</a:t>
            </a:r>
            <a:r>
              <a:rPr lang="es-CO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</p:txBody>
      </p:sp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29736CB-CF8F-C012-3C5E-C03F1BF68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988" y="3629895"/>
            <a:ext cx="6295902" cy="28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3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F10F-C770-E5E3-7ABB-47E6DC5E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392034B8-E32B-DD2E-2F59-00064582F2B5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BCCABB8-8B76-3545-6279-530DDC7D53A9}"/>
              </a:ext>
            </a:extLst>
          </p:cNvPr>
          <p:cNvSpPr txBox="1">
            <a:spLocks/>
          </p:cNvSpPr>
          <p:nvPr/>
        </p:nvSpPr>
        <p:spPr>
          <a:xfrm>
            <a:off x="922146" y="265105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b="1" dirty="0">
                <a:solidFill>
                  <a:schemeClr val="tx1">
                    <a:lumMod val="50000"/>
                  </a:schemeClr>
                </a:solidFill>
              </a:rPr>
              <a:t>IMPACTO EN COSTOS Y RENTABILIDAD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2CDE9AA-A4DB-212A-4B36-7050D8544FD1}"/>
              </a:ext>
            </a:extLst>
          </p:cNvPr>
          <p:cNvSpPr txBox="1"/>
          <p:nvPr/>
        </p:nvSpPr>
        <p:spPr>
          <a:xfrm>
            <a:off x="277402" y="1486909"/>
            <a:ext cx="5656778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Aumento del costo por kilómetro recorrido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Presión sobre márgenes operativos</a:t>
            </a: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Mayor impacto en pymes y transportadores independientes</a:t>
            </a:r>
          </a:p>
        </p:txBody>
      </p:sp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018ADE12-FB11-722F-B9C0-48A9054B6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640" y="1669370"/>
            <a:ext cx="5656721" cy="3786208"/>
          </a:xfrm>
          <a:prstGeom prst="rect">
            <a:avLst/>
          </a:prstGeom>
        </p:spPr>
      </p:pic>
      <p:pic>
        <p:nvPicPr>
          <p:cNvPr id="13" name="Imagen 12" descr="Texto&#10;&#10;El contenido generado por IA puede ser incorrecto.">
            <a:extLst>
              <a:ext uri="{FF2B5EF4-FFF2-40B4-BE49-F238E27FC236}">
                <a16:creationId xmlns:a16="http://schemas.microsoft.com/office/drawing/2014/main" id="{8E95CABA-4745-C5F3-BE4D-40ECE0BE0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89" y="3271081"/>
            <a:ext cx="4310465" cy="156966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6EFB46C-A45D-3149-A2F0-FFC134741A2A}"/>
              </a:ext>
            </a:extLst>
          </p:cNvPr>
          <p:cNvSpPr txBox="1"/>
          <p:nvPr/>
        </p:nvSpPr>
        <p:spPr>
          <a:xfrm>
            <a:off x="448639" y="5018719"/>
            <a:ext cx="548554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Un incremento pequeño en el combustible genera efectos acumulativos relevantes en la operación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765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8F20-2F3F-568B-709E-55063804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6276AEBB-CCC5-F931-2670-532C88A44F83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417A2DE-CEF9-CA8B-EECF-29CA61EDD841}"/>
              </a:ext>
            </a:extLst>
          </p:cNvPr>
          <p:cNvSpPr txBox="1">
            <a:spLocks/>
          </p:cNvSpPr>
          <p:nvPr/>
        </p:nvSpPr>
        <p:spPr>
          <a:xfrm>
            <a:off x="922146" y="265105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CONCLUSIONES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B30CDA-0BCA-22D5-7E0D-AF150F90E4E8}"/>
              </a:ext>
            </a:extLst>
          </p:cNvPr>
          <p:cNvSpPr txBox="1"/>
          <p:nvPr/>
        </p:nvSpPr>
        <p:spPr>
          <a:xfrm>
            <a:off x="277402" y="1429532"/>
            <a:ext cx="6777520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El precio del diésel en Colombia presenta una tendencia creciente y estructural, influenciada más por factores internos y regulatorios que por el mercado internacional.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El modelo ARIMAX resultó adecuado para proyectar el precio del diésel, evidenciando que el ICTC es la variable con mayor peso explicativo.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Los escenarios optimista, base y pesimista muestran trayectorias similares, pero con diferencias relevantes para la planeación financiera del sector.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Incrementos en el precio del diésel se traducen directamente en mayores costos por kilómetro, afectando la competitividad del transporte de carga.</a:t>
            </a:r>
          </a:p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</a:rPr>
              <a:t>La rentabilidad del transporte de carga es altamente sensible a la variación del precio del diésel, especialmente en pymes</a:t>
            </a:r>
          </a:p>
        </p:txBody>
      </p:sp>
      <p:pic>
        <p:nvPicPr>
          <p:cNvPr id="10" name="Imagen 9" descr="Una carretera con coches&#10;&#10;El contenido generado por IA puede ser incorrecto.">
            <a:extLst>
              <a:ext uri="{FF2B5EF4-FFF2-40B4-BE49-F238E27FC236}">
                <a16:creationId xmlns:a16="http://schemas.microsoft.com/office/drawing/2014/main" id="{9A42C64F-823F-7429-41EA-8A9883A3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511" y="1664399"/>
            <a:ext cx="4065314" cy="395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3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8278-B9DA-5ADC-A903-23411B08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>
            <a:extLst>
              <a:ext uri="{FF2B5EF4-FFF2-40B4-BE49-F238E27FC236}">
                <a16:creationId xmlns:a16="http://schemas.microsoft.com/office/drawing/2014/main" id="{FCD43E5C-0F4D-0F9B-B006-88F6942D1889}"/>
              </a:ext>
            </a:extLst>
          </p:cNvPr>
          <p:cNvSpPr/>
          <p:nvPr/>
        </p:nvSpPr>
        <p:spPr>
          <a:xfrm>
            <a:off x="277402" y="1330477"/>
            <a:ext cx="11465959" cy="46182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s-CO" sz="4800" spc="-1" dirty="0">
              <a:solidFill>
                <a:schemeClr val="tx1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2C83A87-5FE2-89F6-3CCC-0C766D8F69DB}"/>
              </a:ext>
            </a:extLst>
          </p:cNvPr>
          <p:cNvSpPr txBox="1">
            <a:spLocks/>
          </p:cNvSpPr>
          <p:nvPr/>
        </p:nvSpPr>
        <p:spPr>
          <a:xfrm>
            <a:off x="922146" y="265105"/>
            <a:ext cx="8786933" cy="77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solidFill>
                  <a:srgbClr val="A7A7A7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b="1" dirty="0">
                <a:solidFill>
                  <a:schemeClr val="tx1">
                    <a:lumMod val="50000"/>
                  </a:schemeClr>
                </a:solidFill>
              </a:rPr>
              <a:t>IMPLICACIONES Y RECOMENDACIONES</a:t>
            </a:r>
            <a:endParaRPr lang="es-419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485C72-7A88-296F-3452-8A830BD754BE}"/>
              </a:ext>
            </a:extLst>
          </p:cNvPr>
          <p:cNvSpPr txBox="1"/>
          <p:nvPr/>
        </p:nvSpPr>
        <p:spPr>
          <a:xfrm>
            <a:off x="210620" y="1494380"/>
            <a:ext cx="5572018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</a:rPr>
              <a:t>Uso de analítica de datos para planeación financiera</a:t>
            </a: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</a:rPr>
              <a:t>Planeación por escenarios en empresas transportadoras</a:t>
            </a: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s-E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375894-70C3-DD64-39C9-7569391E904D}"/>
              </a:ext>
            </a:extLst>
          </p:cNvPr>
          <p:cNvSpPr txBox="1"/>
          <p:nvPr/>
        </p:nvSpPr>
        <p:spPr>
          <a:xfrm>
            <a:off x="1918271" y="5204357"/>
            <a:ext cx="835545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ES" dirty="0"/>
              <a:t>“La ciencia de datos no elimina la volatilidad del mercado energético, pero permite anticipar sus efectos y tomar decisiones más informadas”</a:t>
            </a:r>
            <a:endParaRPr lang="es-CO" dirty="0"/>
          </a:p>
        </p:txBody>
      </p:sp>
      <p:pic>
        <p:nvPicPr>
          <p:cNvPr id="10" name="Imagen 9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68F80C4-335E-E358-9C4E-A015FFBF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08" y="2699312"/>
            <a:ext cx="4438650" cy="21336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050EBCF-F847-57AF-DEDA-EB59FDDF4D4A}"/>
              </a:ext>
            </a:extLst>
          </p:cNvPr>
          <p:cNvSpPr txBox="1"/>
          <p:nvPr/>
        </p:nvSpPr>
        <p:spPr>
          <a:xfrm>
            <a:off x="6238125" y="1325102"/>
            <a:ext cx="5572018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endParaRPr lang="es-E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defTabSz="914400" eaLnBrk="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</a:rPr>
              <a:t>Apoyo a políticas de estabilización y eficiencia energética</a:t>
            </a:r>
          </a:p>
        </p:txBody>
      </p:sp>
      <p:pic>
        <p:nvPicPr>
          <p:cNvPr id="13" name="Imagen 1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F5EDE32-CF4D-1EE1-19C5-77660AF10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60" y="2699312"/>
            <a:ext cx="44291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6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Tm="80000"/>
    </mc:Choice>
    <mc:Fallback xmlns="">
      <p:transition advTm="80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2DDC9E-17B7-250A-9D5B-5C6F93A0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ítulo 1">
            <a:extLst>
              <a:ext uri="{FF2B5EF4-FFF2-40B4-BE49-F238E27FC236}">
                <a16:creationId xmlns:a16="http://schemas.microsoft.com/office/drawing/2014/main" id="{7C3A617D-7B87-CD9C-8E09-1E9CC7B9C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225" y="3473368"/>
            <a:ext cx="6810841" cy="203744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7100"/>
            </a:lvl1pPr>
          </a:lstStyle>
          <a:p>
            <a:r>
              <a:rPr lang="es-ES" sz="4000" dirty="0"/>
              <a:t>GRACIAS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40488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 advTm="50000"/>
    </mc:Choice>
    <mc:Fallback xmlns="">
      <p:transition spd="slow" advTm="50000"/>
    </mc:Fallback>
  </mc:AlternateContent>
</p:sld>
</file>

<file path=ppt/theme/theme1.xml><?xml version="1.0" encoding="utf-8"?>
<a:theme xmlns:a="http://schemas.openxmlformats.org/drawingml/2006/main" name="2023plantilla_presentaciones_todos_los_centros">
  <a:themeElements>
    <a:clrScheme name="Tema de Office">
      <a:dk1>
        <a:srgbClr val="595959"/>
      </a:dk1>
      <a:lt1>
        <a:srgbClr val="FFFFFF"/>
      </a:lt1>
      <a:dk2>
        <a:srgbClr val="A7A7A7"/>
      </a:dk2>
      <a:lt2>
        <a:srgbClr val="535353"/>
      </a:lt2>
      <a:accent1>
        <a:srgbClr val="FFCA08"/>
      </a:accent1>
      <a:accent2>
        <a:srgbClr val="E3B72E"/>
      </a:accent2>
      <a:accent3>
        <a:srgbClr val="D69C29"/>
      </a:accent3>
      <a:accent4>
        <a:srgbClr val="F8931D"/>
      </a:accent4>
      <a:accent5>
        <a:srgbClr val="FF6700"/>
      </a:accent5>
      <a:accent6>
        <a:srgbClr val="D05400"/>
      </a:accent6>
      <a:hlink>
        <a:srgbClr val="0000FF"/>
      </a:hlink>
      <a:folHlink>
        <a:srgbClr val="FF00FF"/>
      </a:folHlink>
    </a:clrScheme>
    <a:fontScheme name="Tema de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95959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95959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95959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95959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595959"/>
      </a:dk1>
      <a:lt1>
        <a:srgbClr val="FFFFFF"/>
      </a:lt1>
      <a:dk2>
        <a:srgbClr val="A7A7A7"/>
      </a:dk2>
      <a:lt2>
        <a:srgbClr val="535353"/>
      </a:lt2>
      <a:accent1>
        <a:srgbClr val="FFCA08"/>
      </a:accent1>
      <a:accent2>
        <a:srgbClr val="E3B72E"/>
      </a:accent2>
      <a:accent3>
        <a:srgbClr val="D69C29"/>
      </a:accent3>
      <a:accent4>
        <a:srgbClr val="F8931D"/>
      </a:accent4>
      <a:accent5>
        <a:srgbClr val="FF6700"/>
      </a:accent5>
      <a:accent6>
        <a:srgbClr val="D05400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95959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595959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64F4D859A7134EB6C19687643215BD" ma:contentTypeVersion="7" ma:contentTypeDescription="Create a new document." ma:contentTypeScope="" ma:versionID="eb7bb32088ac2beb9b07af45e63c428b">
  <xsd:schema xmlns:xsd="http://www.w3.org/2001/XMLSchema" xmlns:xs="http://www.w3.org/2001/XMLSchema" xmlns:p="http://schemas.microsoft.com/office/2006/metadata/properties" xmlns:ns2="8476edc9-fef5-4ded-b79c-dd43b6fe2a40" targetNamespace="http://schemas.microsoft.com/office/2006/metadata/properties" ma:root="true" ma:fieldsID="0b1b687b2ad7aadc0d7bbe1e15544cd5" ns2:_="">
    <xsd:import namespace="8476edc9-fef5-4ded-b79c-dd43b6fe2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6edc9-fef5-4ded-b79c-dd43b6fe2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33A491-2204-48C3-8613-3F360C2D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76edc9-fef5-4ded-b79c-dd43b6fe2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6C39F7-FE11-44D7-B514-4DCD4D24B5AC}">
  <ds:schemaRefs>
    <ds:schemaRef ds:uri="99a9b593-a9c2-443c-af73-4bd3d79387b3"/>
    <ds:schemaRef ds:uri="fcde34ca-b39c-40c1-8281-4feb3a3016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1E81B80-DC4C-4BAE-BCC9-C9BAAB9F66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2023plantilla_presentaciones_todos_los_centros</Template>
  <TotalTime>5322</TotalTime>
  <Words>1166</Words>
  <Application>Microsoft Office PowerPoint</Application>
  <PresentationFormat>Panorámica</PresentationFormat>
  <Paragraphs>214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Aral</vt:lpstr>
      <vt:lpstr>Arial</vt:lpstr>
      <vt:lpstr>Calibri</vt:lpstr>
      <vt:lpstr>Cambria Math</vt:lpstr>
      <vt:lpstr>Times New Roman</vt:lpstr>
      <vt:lpstr>Wingdings</vt:lpstr>
      <vt:lpstr>2023plantilla_presentaciones_todos_los_centros</vt:lpstr>
      <vt:lpstr>Office Theme</vt:lpstr>
      <vt:lpstr>Juan David Soto D’alleman</vt:lpstr>
      <vt:lpstr> </vt:lpstr>
      <vt:lpstr> 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Exposición</dc:title>
  <dc:creator>Paola Catterine Saenz Martinez</dc:creator>
  <cp:lastModifiedBy>Juan David Soto D'alleman</cp:lastModifiedBy>
  <cp:revision>53</cp:revision>
  <dcterms:modified xsi:type="dcterms:W3CDTF">2025-12-15T12:22:14Z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0x0101002264F4D859A7134EB6C19687643215BD</vt:lpwstr>
  </property>
</Properties>
</file>